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9"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custShowLst>
    <p:custShow name="Custom Show 1" id="0">
      <p:sldLst>
        <p:sld r:id="rId2"/>
        <p:sld r:id="rId3"/>
        <p:sld r:id="rId4"/>
        <p:sld r:id="rId5"/>
        <p:sld r:id="rId6"/>
        <p:sld r:id="rId7"/>
        <p:sld r:id="rId8"/>
      </p:sldLst>
    </p:custShow>
  </p:custShow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78" d="100"/>
          <a:sy n="78" d="100"/>
        </p:scale>
        <p:origin x="97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A12265-D06F-4AB3-A1BE-94AE806BAF32}" type="datetimeFigureOut">
              <a:rPr lang="en-IN" smtClean="0"/>
              <a:t>25-06-2026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65471E-21DB-41F7-BC1F-155AC261BE99}" type="slidenum">
              <a:rPr lang="en-IN" smtClean="0"/>
              <a:t>‹#›</a:t>
            </a:fld>
            <a:endParaRPr lang="en-IN"/>
          </a:p>
        </p:txBody>
      </p:sp>
    </p:spTree>
    <p:extLst>
      <p:ext uri="{BB962C8B-B14F-4D97-AF65-F5344CB8AC3E}">
        <p14:creationId xmlns:p14="http://schemas.microsoft.com/office/powerpoint/2010/main" val="139784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D65471E-21DB-41F7-BC1F-155AC261BE99}" type="slidenum">
              <a:rPr lang="en-IN" smtClean="0"/>
              <a:t>2</a:t>
            </a:fld>
            <a:endParaRPr lang="en-IN"/>
          </a:p>
        </p:txBody>
      </p:sp>
    </p:spTree>
    <p:extLst>
      <p:ext uri="{BB962C8B-B14F-4D97-AF65-F5344CB8AC3E}">
        <p14:creationId xmlns:p14="http://schemas.microsoft.com/office/powerpoint/2010/main" val="1873726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D68EDBD4-905A-4052-9EF6-B135901A7B8A}" type="datetimeFigureOut">
              <a:rPr lang="en-IN" smtClean="0"/>
              <a:t>25-06-2026</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6234EE38-C4E1-4B84-9654-975118149C00}"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313828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8EDBD4-905A-4052-9EF6-B135901A7B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34EE38-C4E1-4B84-9654-975118149C00}" type="slidenum">
              <a:rPr lang="en-IN" smtClean="0"/>
              <a:t>‹#›</a:t>
            </a:fld>
            <a:endParaRPr lang="en-IN"/>
          </a:p>
        </p:txBody>
      </p:sp>
    </p:spTree>
    <p:extLst>
      <p:ext uri="{BB962C8B-B14F-4D97-AF65-F5344CB8AC3E}">
        <p14:creationId xmlns:p14="http://schemas.microsoft.com/office/powerpoint/2010/main" val="1749740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8EDBD4-905A-4052-9EF6-B135901A7B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34EE38-C4E1-4B84-9654-975118149C00}"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86116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8EDBD4-905A-4052-9EF6-B135901A7B8A}"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34EE38-C4E1-4B84-9654-975118149C00}" type="slidenum">
              <a:rPr lang="en-IN" smtClean="0"/>
              <a:t>‹#›</a:t>
            </a:fld>
            <a:endParaRPr lang="en-IN"/>
          </a:p>
        </p:txBody>
      </p:sp>
    </p:spTree>
    <p:extLst>
      <p:ext uri="{BB962C8B-B14F-4D97-AF65-F5344CB8AC3E}">
        <p14:creationId xmlns:p14="http://schemas.microsoft.com/office/powerpoint/2010/main" val="1862844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8EDBD4-905A-4052-9EF6-B135901A7B8A}" type="datetimeFigureOut">
              <a:rPr lang="en-IN" smtClean="0"/>
              <a:t>25-06-2026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234EE38-C4E1-4B84-9654-975118149C00}" type="slidenum">
              <a:rPr lang="en-IN" smtClean="0"/>
              <a:t>‹#›</a:t>
            </a:fld>
            <a:endParaRPr lang="en-IN"/>
          </a:p>
        </p:txBody>
      </p:sp>
    </p:spTree>
    <p:extLst>
      <p:ext uri="{BB962C8B-B14F-4D97-AF65-F5344CB8AC3E}">
        <p14:creationId xmlns:p14="http://schemas.microsoft.com/office/powerpoint/2010/main" val="1459688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8EDBD4-905A-4052-9EF6-B135901A7B8A}" type="datetimeFigureOut">
              <a:rPr lang="en-IN" smtClean="0"/>
              <a:t>25-06-2026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234EE38-C4E1-4B84-9654-975118149C00}" type="slidenum">
              <a:rPr lang="en-IN" smtClean="0"/>
              <a:t>‹#›</a:t>
            </a:fld>
            <a:endParaRPr lang="en-IN"/>
          </a:p>
        </p:txBody>
      </p:sp>
    </p:spTree>
    <p:extLst>
      <p:ext uri="{BB962C8B-B14F-4D97-AF65-F5344CB8AC3E}">
        <p14:creationId xmlns:p14="http://schemas.microsoft.com/office/powerpoint/2010/main" val="123048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8EDBD4-905A-4052-9EF6-B135901A7B8A}" type="datetimeFigureOut">
              <a:rPr lang="en-IN" smtClean="0"/>
              <a:t>25-06-2026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234EE38-C4E1-4B84-9654-975118149C00}" type="slidenum">
              <a:rPr lang="en-IN" smtClean="0"/>
              <a:t>‹#›</a:t>
            </a:fld>
            <a:endParaRPr lang="en-IN"/>
          </a:p>
        </p:txBody>
      </p:sp>
    </p:spTree>
    <p:extLst>
      <p:ext uri="{BB962C8B-B14F-4D97-AF65-F5344CB8AC3E}">
        <p14:creationId xmlns:p14="http://schemas.microsoft.com/office/powerpoint/2010/main" val="898501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8EDBD4-905A-4052-9EF6-B135901A7B8A}"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34EE38-C4E1-4B84-9654-975118149C00}" type="slidenum">
              <a:rPr lang="en-IN" smtClean="0"/>
              <a:t>‹#›</a:t>
            </a:fld>
            <a:endParaRPr lang="en-IN"/>
          </a:p>
        </p:txBody>
      </p:sp>
    </p:spTree>
    <p:extLst>
      <p:ext uri="{BB962C8B-B14F-4D97-AF65-F5344CB8AC3E}">
        <p14:creationId xmlns:p14="http://schemas.microsoft.com/office/powerpoint/2010/main" val="552926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8EDBD4-905A-4052-9EF6-B135901A7B8A}"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34EE38-C4E1-4B84-9654-975118149C00}" type="slidenum">
              <a:rPr lang="en-IN" smtClean="0"/>
              <a:t>‹#›</a:t>
            </a:fld>
            <a:endParaRPr lang="en-IN"/>
          </a:p>
        </p:txBody>
      </p:sp>
    </p:spTree>
    <p:extLst>
      <p:ext uri="{BB962C8B-B14F-4D97-AF65-F5344CB8AC3E}">
        <p14:creationId xmlns:p14="http://schemas.microsoft.com/office/powerpoint/2010/main" val="2015823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8EDBD4-905A-4052-9EF6-B135901A7B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34EE38-C4E1-4B84-9654-975118149C00}" type="slidenum">
              <a:rPr lang="en-IN" smtClean="0"/>
              <a:t>‹#›</a:t>
            </a:fld>
            <a:endParaRPr lang="en-IN"/>
          </a:p>
        </p:txBody>
      </p:sp>
    </p:spTree>
    <p:extLst>
      <p:ext uri="{BB962C8B-B14F-4D97-AF65-F5344CB8AC3E}">
        <p14:creationId xmlns:p14="http://schemas.microsoft.com/office/powerpoint/2010/main" val="3797952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8EDBD4-905A-4052-9EF6-B135901A7B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34EE38-C4E1-4B84-9654-975118149C00}" type="slidenum">
              <a:rPr lang="en-IN" smtClean="0"/>
              <a:t>‹#›</a:t>
            </a:fld>
            <a:endParaRPr lang="en-IN"/>
          </a:p>
        </p:txBody>
      </p:sp>
    </p:spTree>
    <p:extLst>
      <p:ext uri="{BB962C8B-B14F-4D97-AF65-F5344CB8AC3E}">
        <p14:creationId xmlns:p14="http://schemas.microsoft.com/office/powerpoint/2010/main" val="37330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D68EDBD4-905A-4052-9EF6-B135901A7B8A}" type="datetimeFigureOut">
              <a:rPr lang="en-IN" smtClean="0"/>
              <a:t>25-06-2026</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6234EE38-C4E1-4B84-9654-975118149C00}" type="slidenum">
              <a:rPr lang="en-IN" smtClean="0"/>
              <a:t>‹#›</a:t>
            </a:fld>
            <a:endParaRPr lang="en-IN"/>
          </a:p>
        </p:txBody>
      </p:sp>
    </p:spTree>
    <p:extLst>
      <p:ext uri="{BB962C8B-B14F-4D97-AF65-F5344CB8AC3E}">
        <p14:creationId xmlns:p14="http://schemas.microsoft.com/office/powerpoint/2010/main" val="3816060563"/>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B46A8-1BC2-C992-1ED2-45D2F9CEACD7}"/>
              </a:ext>
            </a:extLst>
          </p:cNvPr>
          <p:cNvSpPr>
            <a:spLocks noGrp="1"/>
          </p:cNvSpPr>
          <p:nvPr>
            <p:ph type="ctrTitle"/>
          </p:nvPr>
        </p:nvSpPr>
        <p:spPr>
          <a:xfrm>
            <a:off x="918516" y="326110"/>
            <a:ext cx="11030468" cy="4011111"/>
          </a:xfrm>
        </p:spPr>
        <p:txBody>
          <a:bodyPr>
            <a:normAutofit/>
          </a:bodyPr>
          <a:lstStyle/>
          <a:p>
            <a:pPr algn="ctr"/>
            <a:r>
              <a:rPr lang="en-IN" sz="5400" b="1" cap="all" dirty="0"/>
              <a:t>Content Strategy Portal</a:t>
            </a:r>
            <a:br>
              <a:rPr lang="en-IN" sz="5400" b="1" cap="all" dirty="0"/>
            </a:br>
            <a:r>
              <a:rPr lang="en-IN" sz="5400" cap="all" dirty="0"/>
              <a:t>Real-Time Global Streaming Metrics</a:t>
            </a:r>
            <a:br>
              <a:rPr lang="en-IN" cap="all" dirty="0"/>
            </a:br>
            <a:endParaRPr lang="en-IN" dirty="0"/>
          </a:p>
        </p:txBody>
      </p:sp>
      <p:sp>
        <p:nvSpPr>
          <p:cNvPr id="3" name="Subtitle 2">
            <a:extLst>
              <a:ext uri="{FF2B5EF4-FFF2-40B4-BE49-F238E27FC236}">
                <a16:creationId xmlns:a16="http://schemas.microsoft.com/office/drawing/2014/main" id="{6FE2106D-B0AA-7A32-3B44-AECE035ADDD9}"/>
              </a:ext>
            </a:extLst>
          </p:cNvPr>
          <p:cNvSpPr>
            <a:spLocks noGrp="1"/>
          </p:cNvSpPr>
          <p:nvPr>
            <p:ph type="subTitle" idx="1"/>
          </p:nvPr>
        </p:nvSpPr>
        <p:spPr>
          <a:xfrm>
            <a:off x="1332470" y="3881365"/>
            <a:ext cx="9527059" cy="2650524"/>
          </a:xfrm>
        </p:spPr>
        <p:txBody>
          <a:bodyPr>
            <a:normAutofit/>
          </a:bodyPr>
          <a:lstStyle/>
          <a:p>
            <a:pPr algn="ctr"/>
            <a:r>
              <a:rPr lang="en-US" dirty="0"/>
              <a:t>Introduction </a:t>
            </a:r>
          </a:p>
          <a:p>
            <a:r>
              <a:rPr lang="en-US" dirty="0"/>
              <a:t> today  I  am  presenting  my </a:t>
            </a:r>
            <a:r>
              <a:rPr lang="en-IN" sz="2200" cap="all" dirty="0"/>
              <a:t>Content Strategy </a:t>
            </a:r>
            <a:r>
              <a:rPr lang="en-IN" cap="all" dirty="0"/>
              <a:t>Portal</a:t>
            </a:r>
            <a:br>
              <a:rPr lang="en-IN" b="1" cap="all" dirty="0"/>
            </a:br>
            <a:r>
              <a:rPr lang="en-IN" cap="all" dirty="0"/>
              <a:t>Real-Time Global </a:t>
            </a:r>
          </a:p>
          <a:p>
            <a:r>
              <a:rPr lang="en-IN" cap="all" dirty="0"/>
              <a:t>Pritam </a:t>
            </a:r>
            <a:r>
              <a:rPr lang="en-IN" cap="all" dirty="0" err="1"/>
              <a:t>mahana</a:t>
            </a:r>
            <a:r>
              <a:rPr lang="en-IN" cap="all" dirty="0"/>
              <a:t> </a:t>
            </a:r>
          </a:p>
          <a:p>
            <a:r>
              <a:rPr lang="en-IN" cap="all" dirty="0"/>
              <a:t>Branch – Ce &amp; </a:t>
            </a:r>
            <a:r>
              <a:rPr lang="en-IN" cap="all" dirty="0" err="1"/>
              <a:t>iot</a:t>
            </a:r>
            <a:r>
              <a:rPr lang="en-IN" cap="all" dirty="0"/>
              <a:t> </a:t>
            </a:r>
            <a:endParaRPr lang="en-IN" dirty="0"/>
          </a:p>
        </p:txBody>
      </p:sp>
      <p:sp>
        <p:nvSpPr>
          <p:cNvPr id="4" name="AutoShape 2" descr="How Netflix Streams to 300M Users: Open Connect, Adaptive Bitrate &amp;  Microservices Explained (2025)">
            <a:extLst>
              <a:ext uri="{FF2B5EF4-FFF2-40B4-BE49-F238E27FC236}">
                <a16:creationId xmlns:a16="http://schemas.microsoft.com/office/drawing/2014/main" id="{C31F724A-09A1-2AF9-53AF-C364A0975B5B}"/>
              </a:ext>
            </a:extLst>
          </p:cNvPr>
          <p:cNvSpPr>
            <a:spLocks noChangeAspect="1" noChangeArrowheads="1"/>
          </p:cNvSpPr>
          <p:nvPr/>
        </p:nvSpPr>
        <p:spPr bwMode="auto">
          <a:xfrm>
            <a:off x="2285999" y="3150973"/>
            <a:ext cx="3583459" cy="4304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0999535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23E17-028A-4831-E48E-79F6DB814E68}"/>
              </a:ext>
            </a:extLst>
          </p:cNvPr>
          <p:cNvSpPr>
            <a:spLocks noGrp="1"/>
          </p:cNvSpPr>
          <p:nvPr>
            <p:ph type="title"/>
          </p:nvPr>
        </p:nvSpPr>
        <p:spPr/>
        <p:txBody>
          <a:bodyPr/>
          <a:lstStyle/>
          <a:p>
            <a:r>
              <a:rPr lang="en-US" dirty="0"/>
              <a:t>Dataset  overview </a:t>
            </a:r>
            <a:endParaRPr lang="en-IN" dirty="0"/>
          </a:p>
        </p:txBody>
      </p:sp>
      <p:sp>
        <p:nvSpPr>
          <p:cNvPr id="3" name="Content Placeholder 2">
            <a:extLst>
              <a:ext uri="{FF2B5EF4-FFF2-40B4-BE49-F238E27FC236}">
                <a16:creationId xmlns:a16="http://schemas.microsoft.com/office/drawing/2014/main" id="{C18C411E-9DC8-B687-6549-6F1A534B430F}"/>
              </a:ext>
            </a:extLst>
          </p:cNvPr>
          <p:cNvSpPr>
            <a:spLocks noGrp="1"/>
          </p:cNvSpPr>
          <p:nvPr>
            <p:ph idx="1"/>
          </p:nvPr>
        </p:nvSpPr>
        <p:spPr>
          <a:xfrm>
            <a:off x="357809" y="1789043"/>
            <a:ext cx="10909748" cy="4002157"/>
          </a:xfrm>
        </p:spPr>
        <p:txBody>
          <a:bodyPr>
            <a:normAutofit fontScale="85000" lnSpcReduction="20000"/>
          </a:bodyPr>
          <a:lstStyle/>
          <a:p>
            <a:r>
              <a:rPr lang="en-US" u="sng" dirty="0"/>
              <a:t>Source  of  data </a:t>
            </a:r>
          </a:p>
          <a:p>
            <a:pPr lvl="1"/>
            <a:r>
              <a:rPr lang="en-US" dirty="0"/>
              <a:t>This  data  was  collected  from </a:t>
            </a:r>
            <a:r>
              <a:rPr lang="en-IN" sz="1400" b="1" cap="all" dirty="0"/>
              <a:t>Content Strategy Portal</a:t>
            </a:r>
            <a:br>
              <a:rPr lang="en-IN" sz="1400" b="1" cap="all" dirty="0"/>
            </a:br>
            <a:r>
              <a:rPr lang="en-IN" sz="1400" cap="all" dirty="0"/>
              <a:t>Real-Time Global </a:t>
            </a:r>
          </a:p>
          <a:p>
            <a:pPr lvl="1"/>
            <a:endParaRPr lang="en-IN" sz="1400" cap="all" dirty="0"/>
          </a:p>
          <a:p>
            <a:pPr lvl="1"/>
            <a:r>
              <a:rPr lang="en-IN" u="sng" cap="all" dirty="0"/>
              <a:t>Important  data</a:t>
            </a:r>
          </a:p>
          <a:p>
            <a:pPr lvl="1"/>
            <a:r>
              <a:rPr lang="en-IN" u="sng" cap="all" dirty="0"/>
              <a:t>  </a:t>
            </a:r>
          </a:p>
          <a:p>
            <a:pPr lvl="1"/>
            <a:r>
              <a:rPr lang="en-IN" cap="all" dirty="0"/>
              <a:t>The  dataset  contains  information </a:t>
            </a:r>
          </a:p>
          <a:p>
            <a:r>
              <a:rPr lang="en-IN" b="1" dirty="0"/>
              <a:t>Purpose</a:t>
            </a:r>
          </a:p>
          <a:p>
            <a:r>
              <a:rPr lang="en-IN" dirty="0"/>
              <a:t>Monitor Netflix content performance </a:t>
            </a:r>
          </a:p>
          <a:p>
            <a:r>
              <a:rPr lang="en-IN" dirty="0" err="1"/>
              <a:t>Analyze</a:t>
            </a:r>
            <a:r>
              <a:rPr lang="en-IN" dirty="0"/>
              <a:t> global content trends </a:t>
            </a:r>
          </a:p>
          <a:p>
            <a:r>
              <a:rPr lang="en-IN" dirty="0"/>
              <a:t>Support content acquisition decisions  </a:t>
            </a:r>
          </a:p>
          <a:p>
            <a:r>
              <a:rPr lang="en-IN" dirty="0"/>
              <a:t>Identify popular genres and regions </a:t>
            </a:r>
          </a:p>
          <a:p>
            <a:r>
              <a:rPr lang="en-IN" dirty="0"/>
              <a:t>Track movie and TV show distribution </a:t>
            </a:r>
          </a:p>
          <a:p>
            <a:pPr lvl="2"/>
            <a:endParaRPr lang="en-IN" cap="all" dirty="0"/>
          </a:p>
        </p:txBody>
      </p:sp>
      <p:graphicFrame>
        <p:nvGraphicFramePr>
          <p:cNvPr id="4" name="Table 3">
            <a:extLst>
              <a:ext uri="{FF2B5EF4-FFF2-40B4-BE49-F238E27FC236}">
                <a16:creationId xmlns:a16="http://schemas.microsoft.com/office/drawing/2014/main" id="{BC1063FA-7CF2-A321-3110-D58E083140CC}"/>
              </a:ext>
            </a:extLst>
          </p:cNvPr>
          <p:cNvGraphicFramePr>
            <a:graphicFrameLocks noGrp="1"/>
          </p:cNvGraphicFramePr>
          <p:nvPr>
            <p:extLst>
              <p:ext uri="{D42A27DB-BD31-4B8C-83A1-F6EECF244321}">
                <p14:modId xmlns:p14="http://schemas.microsoft.com/office/powerpoint/2010/main" val="1425682811"/>
              </p:ext>
            </p:extLst>
          </p:nvPr>
        </p:nvGraphicFramePr>
        <p:xfrm>
          <a:off x="6321287" y="2094542"/>
          <a:ext cx="3793614" cy="3697616"/>
        </p:xfrm>
        <a:graphic>
          <a:graphicData uri="http://schemas.openxmlformats.org/drawingml/2006/table">
            <a:tbl>
              <a:tblPr/>
              <a:tblGrid>
                <a:gridCol w="1896807">
                  <a:extLst>
                    <a:ext uri="{9D8B030D-6E8A-4147-A177-3AD203B41FA5}">
                      <a16:colId xmlns:a16="http://schemas.microsoft.com/office/drawing/2014/main" val="860340215"/>
                    </a:ext>
                  </a:extLst>
                </a:gridCol>
                <a:gridCol w="1896807">
                  <a:extLst>
                    <a:ext uri="{9D8B030D-6E8A-4147-A177-3AD203B41FA5}">
                      <a16:colId xmlns:a16="http://schemas.microsoft.com/office/drawing/2014/main" val="1926384184"/>
                    </a:ext>
                  </a:extLst>
                </a:gridCol>
              </a:tblGrid>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4112172519"/>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3145983465"/>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2768612116"/>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3873723597"/>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2915986748"/>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1711638812"/>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3825117154"/>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1582930227"/>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997668043"/>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3663366170"/>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a:p>
                  </a:txBody>
                  <a:tcPr marL="71071" marR="71071" marT="35536" marB="35536" anchor="ctr">
                    <a:lnL>
                      <a:noFill/>
                    </a:lnL>
                    <a:lnR>
                      <a:noFill/>
                    </a:lnR>
                    <a:lnT>
                      <a:noFill/>
                    </a:lnT>
                    <a:lnB>
                      <a:noFill/>
                    </a:lnB>
                    <a:noFill/>
                  </a:tcPr>
                </a:tc>
                <a:extLst>
                  <a:ext uri="{0D108BD9-81ED-4DB2-BD59-A6C34878D82A}">
                    <a16:rowId xmlns:a16="http://schemas.microsoft.com/office/drawing/2014/main" val="1613904089"/>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dirty="0"/>
                    </a:p>
                  </a:txBody>
                  <a:tcPr marL="71071" marR="71071" marT="35536" marB="35536" anchor="ctr">
                    <a:lnL>
                      <a:noFill/>
                    </a:lnL>
                    <a:lnR>
                      <a:noFill/>
                    </a:lnR>
                    <a:lnT>
                      <a:noFill/>
                    </a:lnT>
                    <a:lnB>
                      <a:noFill/>
                    </a:lnB>
                    <a:noFill/>
                  </a:tcPr>
                </a:tc>
                <a:extLst>
                  <a:ext uri="{0D108BD9-81ED-4DB2-BD59-A6C34878D82A}">
                    <a16:rowId xmlns:a16="http://schemas.microsoft.com/office/drawing/2014/main" val="2152268223"/>
                  </a:ext>
                </a:extLst>
              </a:tr>
              <a:tr h="253649">
                <a:tc>
                  <a:txBody>
                    <a:bodyPr/>
                    <a:lstStyle/>
                    <a:p>
                      <a:pPr>
                        <a:buNone/>
                      </a:pPr>
                      <a:endParaRPr lang="en-IN" sz="1400" dirty="0"/>
                    </a:p>
                  </a:txBody>
                  <a:tcPr marL="71071" marR="71071" marT="35536" marB="35536" anchor="ctr">
                    <a:lnL>
                      <a:noFill/>
                    </a:lnL>
                    <a:lnR>
                      <a:noFill/>
                    </a:lnR>
                    <a:lnT>
                      <a:noFill/>
                    </a:lnT>
                    <a:lnB>
                      <a:noFill/>
                    </a:lnB>
                    <a:noFill/>
                  </a:tcPr>
                </a:tc>
                <a:tc>
                  <a:txBody>
                    <a:bodyPr/>
                    <a:lstStyle/>
                    <a:p>
                      <a:pPr>
                        <a:buNone/>
                      </a:pPr>
                      <a:endParaRPr lang="en-IN" sz="1400" dirty="0"/>
                    </a:p>
                  </a:txBody>
                  <a:tcPr marL="71071" marR="71071" marT="35536" marB="35536" anchor="ctr">
                    <a:lnL>
                      <a:noFill/>
                    </a:lnL>
                    <a:lnR>
                      <a:noFill/>
                    </a:lnR>
                    <a:lnT>
                      <a:noFill/>
                    </a:lnT>
                    <a:lnB>
                      <a:noFill/>
                    </a:lnB>
                    <a:noFill/>
                  </a:tcPr>
                </a:tc>
                <a:extLst>
                  <a:ext uri="{0D108BD9-81ED-4DB2-BD59-A6C34878D82A}">
                    <a16:rowId xmlns:a16="http://schemas.microsoft.com/office/drawing/2014/main" val="115909313"/>
                  </a:ext>
                </a:extLst>
              </a:tr>
            </a:tbl>
          </a:graphicData>
        </a:graphic>
      </p:graphicFrame>
    </p:spTree>
    <p:extLst>
      <p:ext uri="{BB962C8B-B14F-4D97-AF65-F5344CB8AC3E}">
        <p14:creationId xmlns:p14="http://schemas.microsoft.com/office/powerpoint/2010/main" val="804608495"/>
      </p:ext>
    </p:extLst>
  </p:cSld>
  <p:clrMapOvr>
    <a:masterClrMapping/>
  </p:clrMapOvr>
  <p:transition spd="slow" advTm="32502">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F57E039-46C7-7D27-1132-B0D35E9E8A33}"/>
              </a:ext>
            </a:extLst>
          </p:cNvPr>
          <p:cNvSpPr>
            <a:spLocks noGrp="1" noChangeArrowheads="1"/>
          </p:cNvSpPr>
          <p:nvPr>
            <p:ph type="title"/>
          </p:nvPr>
        </p:nvSpPr>
        <p:spPr bwMode="auto">
          <a:xfrm>
            <a:off x="109331" y="568669"/>
            <a:ext cx="1115822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Dataset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Dataset Name</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Netflix Titles Dataset</a:t>
            </a:r>
            <a:endParaRPr kumimoji="0" lang="en-US" altLang="en-US" sz="1000" b="1"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Source Data</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Netflix Movies and TV Shows dataset containing: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Content Placeholder 3">
            <a:extLst>
              <a:ext uri="{FF2B5EF4-FFF2-40B4-BE49-F238E27FC236}">
                <a16:creationId xmlns:a16="http://schemas.microsoft.com/office/drawing/2014/main" id="{AEAAD3D8-0745-F1E4-1B72-67070704CADD}"/>
              </a:ext>
            </a:extLst>
          </p:cNvPr>
          <p:cNvGraphicFramePr>
            <a:graphicFrameLocks noGrp="1"/>
          </p:cNvGraphicFramePr>
          <p:nvPr>
            <p:ph idx="1"/>
            <p:extLst>
              <p:ext uri="{D42A27DB-BD31-4B8C-83A1-F6EECF244321}">
                <p14:modId xmlns:p14="http://schemas.microsoft.com/office/powerpoint/2010/main" val="1568593069"/>
              </p:ext>
            </p:extLst>
          </p:nvPr>
        </p:nvGraphicFramePr>
        <p:xfrm>
          <a:off x="1442313" y="2029893"/>
          <a:ext cx="8672588" cy="3762265"/>
        </p:xfrm>
        <a:graphic>
          <a:graphicData uri="http://schemas.openxmlformats.org/drawingml/2006/table">
            <a:tbl>
              <a:tblPr/>
              <a:tblGrid>
                <a:gridCol w="4336294">
                  <a:extLst>
                    <a:ext uri="{9D8B030D-6E8A-4147-A177-3AD203B41FA5}">
                      <a16:colId xmlns:a16="http://schemas.microsoft.com/office/drawing/2014/main" val="639953680"/>
                    </a:ext>
                  </a:extLst>
                </a:gridCol>
                <a:gridCol w="4336294">
                  <a:extLst>
                    <a:ext uri="{9D8B030D-6E8A-4147-A177-3AD203B41FA5}">
                      <a16:colId xmlns:a16="http://schemas.microsoft.com/office/drawing/2014/main" val="3704949737"/>
                    </a:ext>
                  </a:extLst>
                </a:gridCol>
              </a:tblGrid>
              <a:tr h="289405">
                <a:tc>
                  <a:txBody>
                    <a:bodyPr/>
                    <a:lstStyle/>
                    <a:p>
                      <a:pPr>
                        <a:buNone/>
                      </a:pPr>
                      <a:r>
                        <a:rPr lang="en-IN" sz="1400"/>
                        <a:t>Column</a:t>
                      </a:r>
                    </a:p>
                  </a:txBody>
                  <a:tcPr marL="71071" marR="71071" marT="35536" marB="35536" anchor="ctr">
                    <a:lnL>
                      <a:noFill/>
                    </a:lnL>
                    <a:lnR>
                      <a:noFill/>
                    </a:lnR>
                    <a:lnT>
                      <a:noFill/>
                    </a:lnT>
                    <a:lnB>
                      <a:noFill/>
                    </a:lnB>
                    <a:noFill/>
                  </a:tcPr>
                </a:tc>
                <a:tc>
                  <a:txBody>
                    <a:bodyPr/>
                    <a:lstStyle/>
                    <a:p>
                      <a:pPr>
                        <a:buNone/>
                      </a:pPr>
                      <a:r>
                        <a:rPr lang="en-IN" sz="1400"/>
                        <a:t>Description</a:t>
                      </a:r>
                    </a:p>
                  </a:txBody>
                  <a:tcPr marL="71071" marR="71071" marT="35536" marB="35536" anchor="ctr">
                    <a:lnL>
                      <a:noFill/>
                    </a:lnL>
                    <a:lnR>
                      <a:noFill/>
                    </a:lnR>
                    <a:lnT>
                      <a:noFill/>
                    </a:lnT>
                    <a:lnB>
                      <a:noFill/>
                    </a:lnB>
                    <a:noFill/>
                  </a:tcPr>
                </a:tc>
                <a:extLst>
                  <a:ext uri="{0D108BD9-81ED-4DB2-BD59-A6C34878D82A}">
                    <a16:rowId xmlns:a16="http://schemas.microsoft.com/office/drawing/2014/main" val="997124364"/>
                  </a:ext>
                </a:extLst>
              </a:tr>
              <a:tr h="289405">
                <a:tc>
                  <a:txBody>
                    <a:bodyPr/>
                    <a:lstStyle/>
                    <a:p>
                      <a:pPr>
                        <a:buNone/>
                      </a:pPr>
                      <a:r>
                        <a:rPr lang="en-IN" sz="1400"/>
                        <a:t>Show ID</a:t>
                      </a:r>
                    </a:p>
                  </a:txBody>
                  <a:tcPr marL="71071" marR="71071" marT="35536" marB="35536" anchor="ctr">
                    <a:lnL>
                      <a:noFill/>
                    </a:lnL>
                    <a:lnR>
                      <a:noFill/>
                    </a:lnR>
                    <a:lnT>
                      <a:noFill/>
                    </a:lnT>
                    <a:lnB>
                      <a:noFill/>
                    </a:lnB>
                    <a:noFill/>
                  </a:tcPr>
                </a:tc>
                <a:tc>
                  <a:txBody>
                    <a:bodyPr/>
                    <a:lstStyle/>
                    <a:p>
                      <a:pPr>
                        <a:buNone/>
                      </a:pPr>
                      <a:r>
                        <a:rPr lang="en-IN" sz="1400"/>
                        <a:t>Unique content ID</a:t>
                      </a:r>
                    </a:p>
                  </a:txBody>
                  <a:tcPr marL="71071" marR="71071" marT="35536" marB="35536" anchor="ctr">
                    <a:lnL>
                      <a:noFill/>
                    </a:lnL>
                    <a:lnR>
                      <a:noFill/>
                    </a:lnR>
                    <a:lnT>
                      <a:noFill/>
                    </a:lnT>
                    <a:lnB>
                      <a:noFill/>
                    </a:lnB>
                    <a:noFill/>
                  </a:tcPr>
                </a:tc>
                <a:extLst>
                  <a:ext uri="{0D108BD9-81ED-4DB2-BD59-A6C34878D82A}">
                    <a16:rowId xmlns:a16="http://schemas.microsoft.com/office/drawing/2014/main" val="4126443343"/>
                  </a:ext>
                </a:extLst>
              </a:tr>
              <a:tr h="289405">
                <a:tc>
                  <a:txBody>
                    <a:bodyPr/>
                    <a:lstStyle/>
                    <a:p>
                      <a:pPr>
                        <a:buNone/>
                      </a:pPr>
                      <a:r>
                        <a:rPr lang="en-IN" sz="1400"/>
                        <a:t>Type</a:t>
                      </a:r>
                    </a:p>
                  </a:txBody>
                  <a:tcPr marL="71071" marR="71071" marT="35536" marB="35536" anchor="ctr">
                    <a:lnL>
                      <a:noFill/>
                    </a:lnL>
                    <a:lnR>
                      <a:noFill/>
                    </a:lnR>
                    <a:lnT>
                      <a:noFill/>
                    </a:lnT>
                    <a:lnB>
                      <a:noFill/>
                    </a:lnB>
                    <a:noFill/>
                  </a:tcPr>
                </a:tc>
                <a:tc>
                  <a:txBody>
                    <a:bodyPr/>
                    <a:lstStyle/>
                    <a:p>
                      <a:pPr>
                        <a:buNone/>
                      </a:pPr>
                      <a:r>
                        <a:rPr lang="en-IN" sz="1400"/>
                        <a:t>Movie or TV Show</a:t>
                      </a:r>
                    </a:p>
                  </a:txBody>
                  <a:tcPr marL="71071" marR="71071" marT="35536" marB="35536" anchor="ctr">
                    <a:lnL>
                      <a:noFill/>
                    </a:lnL>
                    <a:lnR>
                      <a:noFill/>
                    </a:lnR>
                    <a:lnT>
                      <a:noFill/>
                    </a:lnT>
                    <a:lnB>
                      <a:noFill/>
                    </a:lnB>
                    <a:noFill/>
                  </a:tcPr>
                </a:tc>
                <a:extLst>
                  <a:ext uri="{0D108BD9-81ED-4DB2-BD59-A6C34878D82A}">
                    <a16:rowId xmlns:a16="http://schemas.microsoft.com/office/drawing/2014/main" val="3883484960"/>
                  </a:ext>
                </a:extLst>
              </a:tr>
              <a:tr h="289405">
                <a:tc>
                  <a:txBody>
                    <a:bodyPr/>
                    <a:lstStyle/>
                    <a:p>
                      <a:pPr>
                        <a:buNone/>
                      </a:pPr>
                      <a:r>
                        <a:rPr lang="en-IN" sz="1400"/>
                        <a:t>Title</a:t>
                      </a:r>
                    </a:p>
                  </a:txBody>
                  <a:tcPr marL="71071" marR="71071" marT="35536" marB="35536" anchor="ctr">
                    <a:lnL>
                      <a:noFill/>
                    </a:lnL>
                    <a:lnR>
                      <a:noFill/>
                    </a:lnR>
                    <a:lnT>
                      <a:noFill/>
                    </a:lnT>
                    <a:lnB>
                      <a:noFill/>
                    </a:lnB>
                    <a:noFill/>
                  </a:tcPr>
                </a:tc>
                <a:tc>
                  <a:txBody>
                    <a:bodyPr/>
                    <a:lstStyle/>
                    <a:p>
                      <a:pPr>
                        <a:buNone/>
                      </a:pPr>
                      <a:r>
                        <a:rPr lang="en-IN" sz="1400"/>
                        <a:t>Content Name</a:t>
                      </a:r>
                    </a:p>
                  </a:txBody>
                  <a:tcPr marL="71071" marR="71071" marT="35536" marB="35536" anchor="ctr">
                    <a:lnL>
                      <a:noFill/>
                    </a:lnL>
                    <a:lnR>
                      <a:noFill/>
                    </a:lnR>
                    <a:lnT>
                      <a:noFill/>
                    </a:lnT>
                    <a:lnB>
                      <a:noFill/>
                    </a:lnB>
                    <a:noFill/>
                  </a:tcPr>
                </a:tc>
                <a:extLst>
                  <a:ext uri="{0D108BD9-81ED-4DB2-BD59-A6C34878D82A}">
                    <a16:rowId xmlns:a16="http://schemas.microsoft.com/office/drawing/2014/main" val="2446268112"/>
                  </a:ext>
                </a:extLst>
              </a:tr>
              <a:tr h="289405">
                <a:tc>
                  <a:txBody>
                    <a:bodyPr/>
                    <a:lstStyle/>
                    <a:p>
                      <a:pPr>
                        <a:buNone/>
                      </a:pPr>
                      <a:r>
                        <a:rPr lang="en-IN" sz="1400"/>
                        <a:t>Director</a:t>
                      </a:r>
                    </a:p>
                  </a:txBody>
                  <a:tcPr marL="71071" marR="71071" marT="35536" marB="35536" anchor="ctr">
                    <a:lnL>
                      <a:noFill/>
                    </a:lnL>
                    <a:lnR>
                      <a:noFill/>
                    </a:lnR>
                    <a:lnT>
                      <a:noFill/>
                    </a:lnT>
                    <a:lnB>
                      <a:noFill/>
                    </a:lnB>
                    <a:noFill/>
                  </a:tcPr>
                </a:tc>
                <a:tc>
                  <a:txBody>
                    <a:bodyPr/>
                    <a:lstStyle/>
                    <a:p>
                      <a:pPr>
                        <a:buNone/>
                      </a:pPr>
                      <a:r>
                        <a:rPr lang="en-IN" sz="1400"/>
                        <a:t>Director Name</a:t>
                      </a:r>
                    </a:p>
                  </a:txBody>
                  <a:tcPr marL="71071" marR="71071" marT="35536" marB="35536" anchor="ctr">
                    <a:lnL>
                      <a:noFill/>
                    </a:lnL>
                    <a:lnR>
                      <a:noFill/>
                    </a:lnR>
                    <a:lnT>
                      <a:noFill/>
                    </a:lnT>
                    <a:lnB>
                      <a:noFill/>
                    </a:lnB>
                    <a:noFill/>
                  </a:tcPr>
                </a:tc>
                <a:extLst>
                  <a:ext uri="{0D108BD9-81ED-4DB2-BD59-A6C34878D82A}">
                    <a16:rowId xmlns:a16="http://schemas.microsoft.com/office/drawing/2014/main" val="1371400418"/>
                  </a:ext>
                </a:extLst>
              </a:tr>
              <a:tr h="289405">
                <a:tc>
                  <a:txBody>
                    <a:bodyPr/>
                    <a:lstStyle/>
                    <a:p>
                      <a:pPr>
                        <a:buNone/>
                      </a:pPr>
                      <a:r>
                        <a:rPr lang="en-IN" sz="1400"/>
                        <a:t>Cast</a:t>
                      </a:r>
                    </a:p>
                  </a:txBody>
                  <a:tcPr marL="71071" marR="71071" marT="35536" marB="35536" anchor="ctr">
                    <a:lnL>
                      <a:noFill/>
                    </a:lnL>
                    <a:lnR>
                      <a:noFill/>
                    </a:lnR>
                    <a:lnT>
                      <a:noFill/>
                    </a:lnT>
                    <a:lnB>
                      <a:noFill/>
                    </a:lnB>
                    <a:noFill/>
                  </a:tcPr>
                </a:tc>
                <a:tc>
                  <a:txBody>
                    <a:bodyPr/>
                    <a:lstStyle/>
                    <a:p>
                      <a:pPr>
                        <a:buNone/>
                      </a:pPr>
                      <a:r>
                        <a:rPr lang="en-IN" sz="1400"/>
                        <a:t>Actors</a:t>
                      </a:r>
                    </a:p>
                  </a:txBody>
                  <a:tcPr marL="71071" marR="71071" marT="35536" marB="35536" anchor="ctr">
                    <a:lnL>
                      <a:noFill/>
                    </a:lnL>
                    <a:lnR>
                      <a:noFill/>
                    </a:lnR>
                    <a:lnT>
                      <a:noFill/>
                    </a:lnT>
                    <a:lnB>
                      <a:noFill/>
                    </a:lnB>
                    <a:noFill/>
                  </a:tcPr>
                </a:tc>
                <a:extLst>
                  <a:ext uri="{0D108BD9-81ED-4DB2-BD59-A6C34878D82A}">
                    <a16:rowId xmlns:a16="http://schemas.microsoft.com/office/drawing/2014/main" val="3611969462"/>
                  </a:ext>
                </a:extLst>
              </a:tr>
              <a:tr h="289405">
                <a:tc>
                  <a:txBody>
                    <a:bodyPr/>
                    <a:lstStyle/>
                    <a:p>
                      <a:pPr>
                        <a:buNone/>
                      </a:pPr>
                      <a:r>
                        <a:rPr lang="en-IN" sz="1400"/>
                        <a:t>Country</a:t>
                      </a:r>
                    </a:p>
                  </a:txBody>
                  <a:tcPr marL="71071" marR="71071" marT="35536" marB="35536" anchor="ctr">
                    <a:lnL>
                      <a:noFill/>
                    </a:lnL>
                    <a:lnR>
                      <a:noFill/>
                    </a:lnR>
                    <a:lnT>
                      <a:noFill/>
                    </a:lnT>
                    <a:lnB>
                      <a:noFill/>
                    </a:lnB>
                    <a:noFill/>
                  </a:tcPr>
                </a:tc>
                <a:tc>
                  <a:txBody>
                    <a:bodyPr/>
                    <a:lstStyle/>
                    <a:p>
                      <a:pPr>
                        <a:buNone/>
                      </a:pPr>
                      <a:r>
                        <a:rPr lang="en-IN" sz="1400"/>
                        <a:t>Production Country</a:t>
                      </a:r>
                    </a:p>
                  </a:txBody>
                  <a:tcPr marL="71071" marR="71071" marT="35536" marB="35536" anchor="ctr">
                    <a:lnL>
                      <a:noFill/>
                    </a:lnL>
                    <a:lnR>
                      <a:noFill/>
                    </a:lnR>
                    <a:lnT>
                      <a:noFill/>
                    </a:lnT>
                    <a:lnB>
                      <a:noFill/>
                    </a:lnB>
                    <a:noFill/>
                  </a:tcPr>
                </a:tc>
                <a:extLst>
                  <a:ext uri="{0D108BD9-81ED-4DB2-BD59-A6C34878D82A}">
                    <a16:rowId xmlns:a16="http://schemas.microsoft.com/office/drawing/2014/main" val="327684435"/>
                  </a:ext>
                </a:extLst>
              </a:tr>
              <a:tr h="289405">
                <a:tc>
                  <a:txBody>
                    <a:bodyPr/>
                    <a:lstStyle/>
                    <a:p>
                      <a:pPr>
                        <a:buNone/>
                      </a:pPr>
                      <a:r>
                        <a:rPr lang="en-IN" sz="1400"/>
                        <a:t>Date Added</a:t>
                      </a:r>
                    </a:p>
                  </a:txBody>
                  <a:tcPr marL="71071" marR="71071" marT="35536" marB="35536" anchor="ctr">
                    <a:lnL>
                      <a:noFill/>
                    </a:lnL>
                    <a:lnR>
                      <a:noFill/>
                    </a:lnR>
                    <a:lnT>
                      <a:noFill/>
                    </a:lnT>
                    <a:lnB>
                      <a:noFill/>
                    </a:lnB>
                    <a:noFill/>
                  </a:tcPr>
                </a:tc>
                <a:tc>
                  <a:txBody>
                    <a:bodyPr/>
                    <a:lstStyle/>
                    <a:p>
                      <a:pPr>
                        <a:buNone/>
                      </a:pPr>
                      <a:r>
                        <a:rPr lang="en-IN" sz="1400"/>
                        <a:t>Added to Netflix</a:t>
                      </a:r>
                    </a:p>
                  </a:txBody>
                  <a:tcPr marL="71071" marR="71071" marT="35536" marB="35536" anchor="ctr">
                    <a:lnL>
                      <a:noFill/>
                    </a:lnL>
                    <a:lnR>
                      <a:noFill/>
                    </a:lnR>
                    <a:lnT>
                      <a:noFill/>
                    </a:lnT>
                    <a:lnB>
                      <a:noFill/>
                    </a:lnB>
                    <a:noFill/>
                  </a:tcPr>
                </a:tc>
                <a:extLst>
                  <a:ext uri="{0D108BD9-81ED-4DB2-BD59-A6C34878D82A}">
                    <a16:rowId xmlns:a16="http://schemas.microsoft.com/office/drawing/2014/main" val="1518295086"/>
                  </a:ext>
                </a:extLst>
              </a:tr>
              <a:tr h="289405">
                <a:tc>
                  <a:txBody>
                    <a:bodyPr/>
                    <a:lstStyle/>
                    <a:p>
                      <a:pPr>
                        <a:buNone/>
                      </a:pPr>
                      <a:r>
                        <a:rPr lang="en-IN" sz="1400"/>
                        <a:t>Release Year</a:t>
                      </a:r>
                    </a:p>
                  </a:txBody>
                  <a:tcPr marL="71071" marR="71071" marT="35536" marB="35536" anchor="ctr">
                    <a:lnL>
                      <a:noFill/>
                    </a:lnL>
                    <a:lnR>
                      <a:noFill/>
                    </a:lnR>
                    <a:lnT>
                      <a:noFill/>
                    </a:lnT>
                    <a:lnB>
                      <a:noFill/>
                    </a:lnB>
                    <a:noFill/>
                  </a:tcPr>
                </a:tc>
                <a:tc>
                  <a:txBody>
                    <a:bodyPr/>
                    <a:lstStyle/>
                    <a:p>
                      <a:pPr>
                        <a:buNone/>
                      </a:pPr>
                      <a:r>
                        <a:rPr lang="en-IN" sz="1400"/>
                        <a:t>Year of Release</a:t>
                      </a:r>
                    </a:p>
                  </a:txBody>
                  <a:tcPr marL="71071" marR="71071" marT="35536" marB="35536" anchor="ctr">
                    <a:lnL>
                      <a:noFill/>
                    </a:lnL>
                    <a:lnR>
                      <a:noFill/>
                    </a:lnR>
                    <a:lnT>
                      <a:noFill/>
                    </a:lnT>
                    <a:lnB>
                      <a:noFill/>
                    </a:lnB>
                    <a:noFill/>
                  </a:tcPr>
                </a:tc>
                <a:extLst>
                  <a:ext uri="{0D108BD9-81ED-4DB2-BD59-A6C34878D82A}">
                    <a16:rowId xmlns:a16="http://schemas.microsoft.com/office/drawing/2014/main" val="2472400219"/>
                  </a:ext>
                </a:extLst>
              </a:tr>
              <a:tr h="289405">
                <a:tc>
                  <a:txBody>
                    <a:bodyPr/>
                    <a:lstStyle/>
                    <a:p>
                      <a:pPr>
                        <a:buNone/>
                      </a:pPr>
                      <a:r>
                        <a:rPr lang="en-IN" sz="1400"/>
                        <a:t>Rating</a:t>
                      </a:r>
                    </a:p>
                  </a:txBody>
                  <a:tcPr marL="71071" marR="71071" marT="35536" marB="35536" anchor="ctr">
                    <a:lnL>
                      <a:noFill/>
                    </a:lnL>
                    <a:lnR>
                      <a:noFill/>
                    </a:lnR>
                    <a:lnT>
                      <a:noFill/>
                    </a:lnT>
                    <a:lnB>
                      <a:noFill/>
                    </a:lnB>
                    <a:noFill/>
                  </a:tcPr>
                </a:tc>
                <a:tc>
                  <a:txBody>
                    <a:bodyPr/>
                    <a:lstStyle/>
                    <a:p>
                      <a:pPr>
                        <a:buNone/>
                      </a:pPr>
                      <a:r>
                        <a:rPr lang="en-IN" sz="1400"/>
                        <a:t>Content Rating</a:t>
                      </a:r>
                    </a:p>
                  </a:txBody>
                  <a:tcPr marL="71071" marR="71071" marT="35536" marB="35536" anchor="ctr">
                    <a:lnL>
                      <a:noFill/>
                    </a:lnL>
                    <a:lnR>
                      <a:noFill/>
                    </a:lnR>
                    <a:lnT>
                      <a:noFill/>
                    </a:lnT>
                    <a:lnB>
                      <a:noFill/>
                    </a:lnB>
                    <a:noFill/>
                  </a:tcPr>
                </a:tc>
                <a:extLst>
                  <a:ext uri="{0D108BD9-81ED-4DB2-BD59-A6C34878D82A}">
                    <a16:rowId xmlns:a16="http://schemas.microsoft.com/office/drawing/2014/main" val="456186266"/>
                  </a:ext>
                </a:extLst>
              </a:tr>
              <a:tr h="289405">
                <a:tc>
                  <a:txBody>
                    <a:bodyPr/>
                    <a:lstStyle/>
                    <a:p>
                      <a:pPr>
                        <a:buNone/>
                      </a:pPr>
                      <a:r>
                        <a:rPr lang="en-IN" sz="1400"/>
                        <a:t>Duration</a:t>
                      </a:r>
                    </a:p>
                  </a:txBody>
                  <a:tcPr marL="71071" marR="71071" marT="35536" marB="35536" anchor="ctr">
                    <a:lnL>
                      <a:noFill/>
                    </a:lnL>
                    <a:lnR>
                      <a:noFill/>
                    </a:lnR>
                    <a:lnT>
                      <a:noFill/>
                    </a:lnT>
                    <a:lnB>
                      <a:noFill/>
                    </a:lnB>
                    <a:noFill/>
                  </a:tcPr>
                </a:tc>
                <a:tc>
                  <a:txBody>
                    <a:bodyPr/>
                    <a:lstStyle/>
                    <a:p>
                      <a:pPr>
                        <a:buNone/>
                      </a:pPr>
                      <a:r>
                        <a:rPr lang="en-IN" sz="1400"/>
                        <a:t>Runtime</a:t>
                      </a:r>
                    </a:p>
                  </a:txBody>
                  <a:tcPr marL="71071" marR="71071" marT="35536" marB="35536" anchor="ctr">
                    <a:lnL>
                      <a:noFill/>
                    </a:lnL>
                    <a:lnR>
                      <a:noFill/>
                    </a:lnR>
                    <a:lnT>
                      <a:noFill/>
                    </a:lnT>
                    <a:lnB>
                      <a:noFill/>
                    </a:lnB>
                    <a:noFill/>
                  </a:tcPr>
                </a:tc>
                <a:extLst>
                  <a:ext uri="{0D108BD9-81ED-4DB2-BD59-A6C34878D82A}">
                    <a16:rowId xmlns:a16="http://schemas.microsoft.com/office/drawing/2014/main" val="2310046880"/>
                  </a:ext>
                </a:extLst>
              </a:tr>
              <a:tr h="289405">
                <a:tc>
                  <a:txBody>
                    <a:bodyPr/>
                    <a:lstStyle/>
                    <a:p>
                      <a:pPr>
                        <a:buNone/>
                      </a:pPr>
                      <a:r>
                        <a:rPr lang="en-IN" sz="1400"/>
                        <a:t>Listed In</a:t>
                      </a:r>
                    </a:p>
                  </a:txBody>
                  <a:tcPr marL="71071" marR="71071" marT="35536" marB="35536" anchor="ctr">
                    <a:lnL>
                      <a:noFill/>
                    </a:lnL>
                    <a:lnR>
                      <a:noFill/>
                    </a:lnR>
                    <a:lnT>
                      <a:noFill/>
                    </a:lnT>
                    <a:lnB>
                      <a:noFill/>
                    </a:lnB>
                    <a:noFill/>
                  </a:tcPr>
                </a:tc>
                <a:tc>
                  <a:txBody>
                    <a:bodyPr/>
                    <a:lstStyle/>
                    <a:p>
                      <a:pPr>
                        <a:buNone/>
                      </a:pPr>
                      <a:r>
                        <a:rPr lang="en-IN" sz="1400"/>
                        <a:t>Genre Category</a:t>
                      </a:r>
                    </a:p>
                  </a:txBody>
                  <a:tcPr marL="71071" marR="71071" marT="35536" marB="35536" anchor="ctr">
                    <a:lnL>
                      <a:noFill/>
                    </a:lnL>
                    <a:lnR>
                      <a:noFill/>
                    </a:lnR>
                    <a:lnT>
                      <a:noFill/>
                    </a:lnT>
                    <a:lnB>
                      <a:noFill/>
                    </a:lnB>
                    <a:noFill/>
                  </a:tcPr>
                </a:tc>
                <a:extLst>
                  <a:ext uri="{0D108BD9-81ED-4DB2-BD59-A6C34878D82A}">
                    <a16:rowId xmlns:a16="http://schemas.microsoft.com/office/drawing/2014/main" val="3117750848"/>
                  </a:ext>
                </a:extLst>
              </a:tr>
              <a:tr h="289405">
                <a:tc>
                  <a:txBody>
                    <a:bodyPr/>
                    <a:lstStyle/>
                    <a:p>
                      <a:pPr>
                        <a:buNone/>
                      </a:pPr>
                      <a:r>
                        <a:rPr lang="en-IN" sz="1400"/>
                        <a:t>Description</a:t>
                      </a:r>
                    </a:p>
                  </a:txBody>
                  <a:tcPr marL="71071" marR="71071" marT="35536" marB="35536" anchor="ctr">
                    <a:lnL>
                      <a:noFill/>
                    </a:lnL>
                    <a:lnR>
                      <a:noFill/>
                    </a:lnR>
                    <a:lnT>
                      <a:noFill/>
                    </a:lnT>
                    <a:lnB>
                      <a:noFill/>
                    </a:lnB>
                    <a:noFill/>
                  </a:tcPr>
                </a:tc>
                <a:tc>
                  <a:txBody>
                    <a:bodyPr/>
                    <a:lstStyle/>
                    <a:p>
                      <a:pPr>
                        <a:buNone/>
                      </a:pPr>
                      <a:r>
                        <a:rPr lang="en-IN" sz="1400" dirty="0"/>
                        <a:t>Content Summary</a:t>
                      </a:r>
                    </a:p>
                  </a:txBody>
                  <a:tcPr marL="71071" marR="71071" marT="35536" marB="35536" anchor="ctr">
                    <a:lnL>
                      <a:noFill/>
                    </a:lnL>
                    <a:lnR>
                      <a:noFill/>
                    </a:lnR>
                    <a:lnT>
                      <a:noFill/>
                    </a:lnT>
                    <a:lnB>
                      <a:noFill/>
                    </a:lnB>
                    <a:noFill/>
                  </a:tcPr>
                </a:tc>
                <a:extLst>
                  <a:ext uri="{0D108BD9-81ED-4DB2-BD59-A6C34878D82A}">
                    <a16:rowId xmlns:a16="http://schemas.microsoft.com/office/drawing/2014/main" val="2180593222"/>
                  </a:ext>
                </a:extLst>
              </a:tr>
            </a:tbl>
          </a:graphicData>
        </a:graphic>
      </p:graphicFrame>
      <p:sp>
        <p:nvSpPr>
          <p:cNvPr id="7" name="TextBox 6">
            <a:extLst>
              <a:ext uri="{FF2B5EF4-FFF2-40B4-BE49-F238E27FC236}">
                <a16:creationId xmlns:a16="http://schemas.microsoft.com/office/drawing/2014/main" id="{D330E157-A029-C675-CF19-DEA06CAD17B0}"/>
              </a:ext>
            </a:extLst>
          </p:cNvPr>
          <p:cNvSpPr txBox="1"/>
          <p:nvPr/>
        </p:nvSpPr>
        <p:spPr>
          <a:xfrm>
            <a:off x="8169965" y="2117035"/>
            <a:ext cx="3548270" cy="1477328"/>
          </a:xfrm>
          <a:prstGeom prst="rect">
            <a:avLst/>
          </a:prstGeom>
          <a:noFill/>
        </p:spPr>
        <p:txBody>
          <a:bodyPr wrap="square">
            <a:spAutoFit/>
          </a:bodyPr>
          <a:lstStyle/>
          <a:p>
            <a:pPr>
              <a:buNone/>
            </a:pPr>
            <a:r>
              <a:rPr lang="en-IN" b="1" dirty="0"/>
              <a:t>Data Size</a:t>
            </a:r>
          </a:p>
          <a:p>
            <a:pPr>
              <a:buFont typeface="Arial" panose="020B0604020202020204" pitchFamily="34" charset="0"/>
              <a:buChar char="•"/>
            </a:pPr>
            <a:r>
              <a:rPr lang="en-IN" dirty="0"/>
              <a:t>Thousands of Netflix titles </a:t>
            </a:r>
          </a:p>
          <a:p>
            <a:pPr>
              <a:buFont typeface="Arial" panose="020B0604020202020204" pitchFamily="34" charset="0"/>
              <a:buChar char="•"/>
            </a:pPr>
            <a:r>
              <a:rPr lang="en-IN" dirty="0"/>
              <a:t>Multiple countries </a:t>
            </a:r>
          </a:p>
          <a:p>
            <a:pPr>
              <a:buFont typeface="Arial" panose="020B0604020202020204" pitchFamily="34" charset="0"/>
              <a:buChar char="•"/>
            </a:pPr>
            <a:r>
              <a:rPr lang="en-IN" dirty="0"/>
              <a:t>Multiple genres </a:t>
            </a:r>
          </a:p>
          <a:p>
            <a:pPr>
              <a:buFont typeface="Arial" panose="020B0604020202020204" pitchFamily="34" charset="0"/>
              <a:buChar char="•"/>
            </a:pPr>
            <a:r>
              <a:rPr lang="en-IN" dirty="0"/>
              <a:t>Historical content data </a:t>
            </a:r>
          </a:p>
        </p:txBody>
      </p:sp>
    </p:spTree>
    <p:extLst>
      <p:ext uri="{BB962C8B-B14F-4D97-AF65-F5344CB8AC3E}">
        <p14:creationId xmlns:p14="http://schemas.microsoft.com/office/powerpoint/2010/main" val="3205863218"/>
      </p:ext>
    </p:extLst>
  </p:cSld>
  <p:clrMapOvr>
    <a:masterClrMapping/>
  </p:clrMapOvr>
  <p:transition spd="slow" advTm="2290">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918CE-474C-4D4B-E456-38AD0C26E54F}"/>
              </a:ext>
            </a:extLst>
          </p:cNvPr>
          <p:cNvSpPr>
            <a:spLocks noGrp="1"/>
          </p:cNvSpPr>
          <p:nvPr>
            <p:ph type="title"/>
          </p:nvPr>
        </p:nvSpPr>
        <p:spPr/>
        <p:txBody>
          <a:bodyPr/>
          <a:lstStyle/>
          <a:p>
            <a:r>
              <a:rPr lang="en-IN" dirty="0"/>
              <a:t>Charts and Visualizations</a:t>
            </a:r>
          </a:p>
        </p:txBody>
      </p:sp>
      <p:sp>
        <p:nvSpPr>
          <p:cNvPr id="3" name="Content Placeholder 2">
            <a:extLst>
              <a:ext uri="{FF2B5EF4-FFF2-40B4-BE49-F238E27FC236}">
                <a16:creationId xmlns:a16="http://schemas.microsoft.com/office/drawing/2014/main" id="{7C67D74A-0B1A-423E-656F-260D4FE73732}"/>
              </a:ext>
            </a:extLst>
          </p:cNvPr>
          <p:cNvSpPr>
            <a:spLocks noGrp="1"/>
          </p:cNvSpPr>
          <p:nvPr>
            <p:ph idx="1"/>
          </p:nvPr>
        </p:nvSpPr>
        <p:spPr>
          <a:xfrm>
            <a:off x="298174" y="2096063"/>
            <a:ext cx="10969383" cy="4264979"/>
          </a:xfrm>
        </p:spPr>
        <p:txBody>
          <a:bodyPr>
            <a:normAutofit fontScale="25000" lnSpcReduction="20000"/>
          </a:bodyPr>
          <a:lstStyle/>
          <a:p>
            <a:r>
              <a:rPr lang="en-IN" b="1" dirty="0"/>
              <a:t>Line Chart</a:t>
            </a:r>
          </a:p>
          <a:p>
            <a:r>
              <a:rPr lang="en-IN" b="1" dirty="0"/>
              <a:t>Content Release Trend Over Years</a:t>
            </a:r>
            <a:endParaRPr lang="en-IN" dirty="0"/>
          </a:p>
          <a:p>
            <a:r>
              <a:rPr lang="en-IN" dirty="0"/>
              <a:t>Purpose:</a:t>
            </a:r>
          </a:p>
          <a:p>
            <a:r>
              <a:rPr lang="en-IN" dirty="0"/>
              <a:t>Shows growth of Netflix content over time. </a:t>
            </a:r>
          </a:p>
          <a:p>
            <a:r>
              <a:rPr lang="en-IN" dirty="0"/>
              <a:t>Identifies peak production years. </a:t>
            </a:r>
          </a:p>
          <a:p>
            <a:r>
              <a:rPr lang="en-IN" b="1" dirty="0"/>
              <a:t>Bar Chart</a:t>
            </a:r>
          </a:p>
          <a:p>
            <a:r>
              <a:rPr lang="en-IN" b="1" dirty="0"/>
              <a:t>Top Countries by Content Count</a:t>
            </a:r>
            <a:endParaRPr lang="en-IN" dirty="0"/>
          </a:p>
          <a:p>
            <a:r>
              <a:rPr lang="en-IN" dirty="0"/>
              <a:t>Purpose:</a:t>
            </a:r>
          </a:p>
          <a:p>
            <a:r>
              <a:rPr lang="en-IN" dirty="0"/>
              <a:t>Compare content production across countries. </a:t>
            </a:r>
          </a:p>
          <a:p>
            <a:r>
              <a:rPr lang="en-IN" dirty="0"/>
              <a:t>Identify leading content markets. </a:t>
            </a:r>
          </a:p>
          <a:p>
            <a:r>
              <a:rPr lang="en-IN" b="1" dirty="0"/>
              <a:t>Pie / Donut Chart</a:t>
            </a:r>
          </a:p>
          <a:p>
            <a:r>
              <a:rPr lang="en-IN" b="1" dirty="0"/>
              <a:t>Movies vs TV Shows</a:t>
            </a:r>
            <a:endParaRPr lang="en-IN" dirty="0"/>
          </a:p>
          <a:p>
            <a:r>
              <a:rPr lang="en-IN" dirty="0"/>
              <a:t>Purpose:</a:t>
            </a:r>
          </a:p>
          <a:p>
            <a:r>
              <a:rPr lang="en-IN" dirty="0"/>
              <a:t>Shows content distribution. </a:t>
            </a:r>
          </a:p>
          <a:p>
            <a:r>
              <a:rPr lang="en-IN" dirty="0"/>
              <a:t>Understand content strategy balance. </a:t>
            </a:r>
          </a:p>
          <a:p>
            <a:r>
              <a:rPr lang="en-IN" b="1" dirty="0" err="1"/>
              <a:t>Treemap</a:t>
            </a:r>
            <a:endParaRPr lang="en-IN" b="1" dirty="0"/>
          </a:p>
          <a:p>
            <a:r>
              <a:rPr lang="en-IN" b="1" dirty="0"/>
              <a:t>Genre Distribution</a:t>
            </a:r>
            <a:endParaRPr lang="en-IN" dirty="0"/>
          </a:p>
          <a:p>
            <a:r>
              <a:rPr lang="en-IN" dirty="0"/>
              <a:t>Purpose:</a:t>
            </a:r>
          </a:p>
          <a:p>
            <a:endParaRPr lang="en-IN" dirty="0"/>
          </a:p>
        </p:txBody>
      </p:sp>
    </p:spTree>
    <p:extLst>
      <p:ext uri="{BB962C8B-B14F-4D97-AF65-F5344CB8AC3E}">
        <p14:creationId xmlns:p14="http://schemas.microsoft.com/office/powerpoint/2010/main" val="824959262"/>
      </p:ext>
    </p:extLst>
  </p:cSld>
  <p:clrMapOvr>
    <a:masterClrMapping/>
  </p:clrMapOvr>
  <p:transition spd="slow" advTm="127">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A7A3B-4282-3812-1D2E-89A1F7FF4A9E}"/>
              </a:ext>
            </a:extLst>
          </p:cNvPr>
          <p:cNvSpPr>
            <a:spLocks noGrp="1"/>
          </p:cNvSpPr>
          <p:nvPr>
            <p:ph type="title"/>
          </p:nvPr>
        </p:nvSpPr>
        <p:spPr/>
        <p:txBody>
          <a:bodyPr/>
          <a:lstStyle/>
          <a:p>
            <a:r>
              <a:rPr lang="en-IN" dirty="0"/>
              <a:t>Key Insights and Findings</a:t>
            </a:r>
          </a:p>
        </p:txBody>
      </p:sp>
      <p:sp>
        <p:nvSpPr>
          <p:cNvPr id="3" name="Content Placeholder 2">
            <a:extLst>
              <a:ext uri="{FF2B5EF4-FFF2-40B4-BE49-F238E27FC236}">
                <a16:creationId xmlns:a16="http://schemas.microsoft.com/office/drawing/2014/main" id="{8C2C782B-E5BD-A0E0-19B8-DBF7259AE284}"/>
              </a:ext>
            </a:extLst>
          </p:cNvPr>
          <p:cNvSpPr>
            <a:spLocks noGrp="1"/>
          </p:cNvSpPr>
          <p:nvPr>
            <p:ph idx="1"/>
          </p:nvPr>
        </p:nvSpPr>
        <p:spPr/>
        <p:txBody>
          <a:bodyPr>
            <a:normAutofit fontScale="77500" lnSpcReduction="20000"/>
          </a:bodyPr>
          <a:lstStyle/>
          <a:p>
            <a:r>
              <a:rPr lang="en-IN" b="1" dirty="0"/>
              <a:t>Insight 1</a:t>
            </a:r>
          </a:p>
          <a:p>
            <a:r>
              <a:rPr lang="en-IN" dirty="0"/>
              <a:t>Movies represent the majority of Netflix content compared to TV Shows.</a:t>
            </a:r>
          </a:p>
          <a:p>
            <a:r>
              <a:rPr lang="en-IN" b="1" dirty="0"/>
              <a:t>Insight 2</a:t>
            </a:r>
          </a:p>
          <a:p>
            <a:r>
              <a:rPr lang="en-IN" dirty="0"/>
              <a:t>The United States contributes the highest number of titles.</a:t>
            </a:r>
          </a:p>
          <a:p>
            <a:r>
              <a:rPr lang="en-IN" b="1" dirty="0"/>
              <a:t>Insight 3</a:t>
            </a:r>
          </a:p>
          <a:p>
            <a:r>
              <a:rPr lang="en-IN" dirty="0"/>
              <a:t>Drama, Comedy, and Documentary are among the most popular genres.</a:t>
            </a:r>
          </a:p>
          <a:p>
            <a:r>
              <a:rPr lang="en-IN" b="1" dirty="0"/>
              <a:t>Insight 4</a:t>
            </a:r>
          </a:p>
          <a:p>
            <a:r>
              <a:rPr lang="en-IN" dirty="0"/>
              <a:t>Netflix content growth increased significantly after 2015.</a:t>
            </a:r>
          </a:p>
          <a:p>
            <a:r>
              <a:rPr lang="en-IN" b="1" dirty="0"/>
              <a:t>Insight 5</a:t>
            </a:r>
          </a:p>
          <a:p>
            <a:r>
              <a:rPr lang="en-IN" dirty="0"/>
              <a:t>Content is distributed across many countries, showing Netflix's global expansion strategy.</a:t>
            </a:r>
          </a:p>
          <a:p>
            <a:r>
              <a:rPr lang="en-IN" b="1" dirty="0"/>
              <a:t>Insight 6</a:t>
            </a:r>
          </a:p>
          <a:p>
            <a:r>
              <a:rPr lang="en-IN" dirty="0"/>
              <a:t>Recent years show greater investment in original productions.</a:t>
            </a:r>
          </a:p>
          <a:p>
            <a:endParaRPr lang="en-IN" dirty="0"/>
          </a:p>
        </p:txBody>
      </p:sp>
    </p:spTree>
    <p:extLst>
      <p:ext uri="{BB962C8B-B14F-4D97-AF65-F5344CB8AC3E}">
        <p14:creationId xmlns:p14="http://schemas.microsoft.com/office/powerpoint/2010/main" val="3562280010"/>
      </p:ext>
    </p:extLst>
  </p:cSld>
  <p:clrMapOvr>
    <a:masterClrMapping/>
  </p:clrMapOvr>
  <p:transition spd="slow" advTm="536">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E1F17-91AA-0316-364B-A7502EF6C6B8}"/>
              </a:ext>
            </a:extLst>
          </p:cNvPr>
          <p:cNvSpPr>
            <a:spLocks noGrp="1"/>
          </p:cNvSpPr>
          <p:nvPr>
            <p:ph type="title"/>
          </p:nvPr>
        </p:nvSpPr>
        <p:spPr/>
        <p:txBody>
          <a:bodyPr/>
          <a:lstStyle/>
          <a:p>
            <a:r>
              <a:rPr lang="en-IN" dirty="0"/>
              <a:t>Tools Used</a:t>
            </a:r>
          </a:p>
        </p:txBody>
      </p:sp>
      <p:sp>
        <p:nvSpPr>
          <p:cNvPr id="3" name="Content Placeholder 2">
            <a:extLst>
              <a:ext uri="{FF2B5EF4-FFF2-40B4-BE49-F238E27FC236}">
                <a16:creationId xmlns:a16="http://schemas.microsoft.com/office/drawing/2014/main" id="{D9E16B57-637A-F8CB-54CD-653424BD97F8}"/>
              </a:ext>
            </a:extLst>
          </p:cNvPr>
          <p:cNvSpPr>
            <a:spLocks noGrp="1"/>
          </p:cNvSpPr>
          <p:nvPr>
            <p:ph idx="1"/>
          </p:nvPr>
        </p:nvSpPr>
        <p:spPr>
          <a:xfrm>
            <a:off x="327991" y="2096064"/>
            <a:ext cx="10939566" cy="4414066"/>
          </a:xfrm>
        </p:spPr>
        <p:txBody>
          <a:bodyPr>
            <a:normAutofit fontScale="40000" lnSpcReduction="20000"/>
          </a:bodyPr>
          <a:lstStyle/>
          <a:p>
            <a:r>
              <a:rPr lang="en-IN" b="1" dirty="0"/>
              <a:t>Microsoft Excel</a:t>
            </a:r>
          </a:p>
          <a:p>
            <a:r>
              <a:rPr lang="en-IN" dirty="0"/>
              <a:t>Data cleaning </a:t>
            </a:r>
          </a:p>
          <a:p>
            <a:r>
              <a:rPr lang="en-IN" dirty="0"/>
              <a:t>Data preparation </a:t>
            </a:r>
          </a:p>
          <a:p>
            <a:r>
              <a:rPr lang="en-IN" b="1" dirty="0"/>
              <a:t>Power BI</a:t>
            </a:r>
          </a:p>
          <a:p>
            <a:r>
              <a:rPr lang="en-IN" dirty="0"/>
              <a:t>Dashboard development </a:t>
            </a:r>
          </a:p>
          <a:p>
            <a:r>
              <a:rPr lang="en-IN" dirty="0"/>
              <a:t>Data </a:t>
            </a:r>
            <a:r>
              <a:rPr lang="en-IN" dirty="0" err="1"/>
              <a:t>modeling</a:t>
            </a:r>
            <a:r>
              <a:rPr lang="en-IN" dirty="0"/>
              <a:t> </a:t>
            </a:r>
          </a:p>
          <a:p>
            <a:r>
              <a:rPr lang="en-IN" dirty="0"/>
              <a:t>Interactive visualizations </a:t>
            </a:r>
          </a:p>
          <a:p>
            <a:r>
              <a:rPr lang="en-IN" dirty="0"/>
              <a:t>KPI creation </a:t>
            </a:r>
          </a:p>
          <a:p>
            <a:r>
              <a:rPr lang="en-IN" b="1" dirty="0"/>
              <a:t>DAX</a:t>
            </a:r>
          </a:p>
          <a:p>
            <a:r>
              <a:rPr lang="en-IN" dirty="0"/>
              <a:t>Calculated measures </a:t>
            </a:r>
          </a:p>
          <a:p>
            <a:r>
              <a:rPr lang="en-IN" dirty="0"/>
              <a:t>Aggregations </a:t>
            </a:r>
          </a:p>
          <a:p>
            <a:r>
              <a:rPr lang="en-IN" dirty="0"/>
              <a:t>Performance metrics </a:t>
            </a:r>
          </a:p>
          <a:p>
            <a:r>
              <a:rPr lang="en-IN" b="1" dirty="0"/>
              <a:t>Power Query</a:t>
            </a:r>
          </a:p>
          <a:p>
            <a:r>
              <a:rPr lang="en-IN" dirty="0"/>
              <a:t>Data transformation </a:t>
            </a:r>
          </a:p>
          <a:p>
            <a:r>
              <a:rPr lang="en-IN" dirty="0"/>
              <a:t>Data cleansing</a:t>
            </a:r>
          </a:p>
          <a:p>
            <a:endParaRPr lang="en-IN" dirty="0"/>
          </a:p>
        </p:txBody>
      </p:sp>
    </p:spTree>
    <p:extLst>
      <p:ext uri="{BB962C8B-B14F-4D97-AF65-F5344CB8AC3E}">
        <p14:creationId xmlns:p14="http://schemas.microsoft.com/office/powerpoint/2010/main" val="1603993591"/>
      </p:ext>
    </p:extLst>
  </p:cSld>
  <p:clrMapOvr>
    <a:masterClrMapping/>
  </p:clrMapOvr>
  <p:transition spd="slow" advTm="520">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C1D5F-6C4A-C317-CA04-9E29A67E8D93}"/>
              </a:ext>
            </a:extLst>
          </p:cNvPr>
          <p:cNvSpPr>
            <a:spLocks noGrp="1"/>
          </p:cNvSpPr>
          <p:nvPr>
            <p:ph type="title"/>
          </p:nvPr>
        </p:nvSpPr>
        <p:spPr/>
        <p:txBody>
          <a:bodyPr/>
          <a:lstStyle/>
          <a:p>
            <a:r>
              <a:rPr lang="en-IN" dirty="0"/>
              <a:t>Presentation Conclusion</a:t>
            </a:r>
          </a:p>
        </p:txBody>
      </p:sp>
      <p:sp>
        <p:nvSpPr>
          <p:cNvPr id="3" name="Content Placeholder 2">
            <a:extLst>
              <a:ext uri="{FF2B5EF4-FFF2-40B4-BE49-F238E27FC236}">
                <a16:creationId xmlns:a16="http://schemas.microsoft.com/office/drawing/2014/main" id="{BC0DEAFD-F23B-4EB3-BE65-00F6E6EFACF1}"/>
              </a:ext>
            </a:extLst>
          </p:cNvPr>
          <p:cNvSpPr>
            <a:spLocks noGrp="1"/>
          </p:cNvSpPr>
          <p:nvPr>
            <p:ph idx="1"/>
          </p:nvPr>
        </p:nvSpPr>
        <p:spPr>
          <a:xfrm>
            <a:off x="804465" y="1764760"/>
            <a:ext cx="10353762" cy="4483640"/>
          </a:xfrm>
        </p:spPr>
        <p:txBody>
          <a:bodyPr>
            <a:normAutofit fontScale="85000" lnSpcReduction="10000"/>
          </a:bodyPr>
          <a:lstStyle/>
          <a:p>
            <a:r>
              <a:rPr lang="en-IN" dirty="0"/>
              <a:t>The Netflix Content Strategy Portal Dashboard successfully transforms raw Netflix content data into meaningful business insights through interactive visualizations and analytical reports. This dashboard provides a comprehensive overview of Netflix's global content ecosystem, enabling users to explore trends in movies, TV shows, genres, ratings, countries, and release years. By integrating multiple visual elements such as line charts, bar charts, </a:t>
            </a:r>
            <a:r>
              <a:rPr lang="en-IN" dirty="0" err="1"/>
              <a:t>treemaps</a:t>
            </a:r>
            <a:r>
              <a:rPr lang="en-IN" dirty="0"/>
              <a:t>, scatter plots, donut charts, and funnel charts, the dashboard presents complex information in a clear and user-friendly manner.</a:t>
            </a:r>
          </a:p>
          <a:p>
            <a:r>
              <a:rPr lang="en-IN" dirty="0"/>
              <a:t>The analysis reveals valuable insights regarding content distribution, audience preferences, genre popularity, and regional contributions. It highlights how Netflix has expanded its content library over the years and demonstrates the platform's focus on global content diversity. The dashboard also helps identify leading content-producing countries, trending genres, and growth patterns in content releases, supporting strategic decision-making for content acquisition and production planning.</a:t>
            </a:r>
          </a:p>
          <a:p>
            <a:r>
              <a:rPr lang="en-IN" dirty="0"/>
              <a:t>From a business perspective, the dashboard serves as a powerful decision-support tool. Executives, analysts, and content managers can use it to monitor performance indicators, evaluate content strategies, and identify opportunities for market expansion. The real-time and interactive nature of the dashboard allows users to filter data dynamically and gain deeper insights based on specific business requirements.</a:t>
            </a:r>
          </a:p>
          <a:p>
            <a:r>
              <a:rPr lang="en-IN" dirty="0"/>
              <a:t>The project demonstrates the practical application of data analytics, business intelligence, and data visualization techniques using modern tools such as Power BI, Power Query, DAX, and Excel. It showcases how data can be converted into actionable knowledge that supports informed decision-making and enhances organizational performance</a:t>
            </a:r>
          </a:p>
          <a:p>
            <a:endParaRPr lang="en-IN" dirty="0"/>
          </a:p>
        </p:txBody>
      </p:sp>
    </p:spTree>
    <p:extLst>
      <p:ext uri="{BB962C8B-B14F-4D97-AF65-F5344CB8AC3E}">
        <p14:creationId xmlns:p14="http://schemas.microsoft.com/office/powerpoint/2010/main" val="1986503296"/>
      </p:ext>
    </p:extLst>
  </p:cSld>
  <p:clrMapOvr>
    <a:masterClrMapping/>
  </p:clrMapOvr>
  <p:transition spd="slow" advTm="47276">
    <p:push dir="u"/>
  </p:transition>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View</Template>
  <TotalTime>168</TotalTime>
  <Words>612</Words>
  <Application>Microsoft Office PowerPoint</Application>
  <PresentationFormat>Widescreen</PresentationFormat>
  <Paragraphs>109</Paragraphs>
  <Slides>7</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7</vt:i4>
      </vt:variant>
      <vt:variant>
        <vt:lpstr>Custom Shows</vt:lpstr>
      </vt:variant>
      <vt:variant>
        <vt:i4>1</vt:i4>
      </vt:variant>
    </vt:vector>
  </HeadingPairs>
  <TitlesOfParts>
    <vt:vector size="13" baseType="lpstr">
      <vt:lpstr>Aptos</vt:lpstr>
      <vt:lpstr>Arial</vt:lpstr>
      <vt:lpstr>Century Schoolbook</vt:lpstr>
      <vt:lpstr>Wingdings 2</vt:lpstr>
      <vt:lpstr>View</vt:lpstr>
      <vt:lpstr>Content Strategy Portal Real-Time Global Streaming Metrics </vt:lpstr>
      <vt:lpstr>Dataset  overview </vt:lpstr>
      <vt:lpstr>Dataset Used  Dataset Name Netflix Titles Dataset Source Data Netflix Movies and TV Shows dataset containing: </vt:lpstr>
      <vt:lpstr>Charts and Visualizations</vt:lpstr>
      <vt:lpstr>Key Insights and Findings</vt:lpstr>
      <vt:lpstr>Tools Used</vt:lpstr>
      <vt:lpstr>Presentation Conclusion</vt:lpstr>
      <vt:lpstr>Custom Show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dept.ailab1@outlook.com</dc:creator>
  <cp:lastModifiedBy>dept.ailab1@outlook.com</cp:lastModifiedBy>
  <cp:revision>3</cp:revision>
  <dcterms:created xsi:type="dcterms:W3CDTF">2026-06-10T05:16:42Z</dcterms:created>
  <dcterms:modified xsi:type="dcterms:W3CDTF">2026-06-25T05:37:07Z</dcterms:modified>
</cp:coreProperties>
</file>